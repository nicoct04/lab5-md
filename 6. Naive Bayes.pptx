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7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A565"/>
    <a:srgbClr val="B8D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howGuides="1">
      <p:cViewPr varScale="1">
        <p:scale>
          <a:sx n="76" d="100"/>
          <a:sy n="76" d="100"/>
        </p:scale>
        <p:origin x="67" y="274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3/13/2019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3/13/2019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  <a:extLst/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3/13/2019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  <a:extLst/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3/13/2019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3/13/2019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3/13/2019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3/13/2019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3/13/2019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3/13/2019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3/13/2019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3/13/2019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s.wikipedia.org/wiki/Thomas_Bay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CPqOCI0ahss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academic.uprm.edu/eacuna/naivebayesacu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Naive Bayes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Introducción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 una proposición planteada por el filósofo inglés </a:t>
            </a:r>
            <a:r>
              <a:rPr lang="es-ES" dirty="0">
                <a:hlinkClick r:id="rId2" tooltip="Thomas Bayes"/>
              </a:rPr>
              <a:t>Thomas Bayes</a:t>
            </a:r>
            <a:r>
              <a:rPr lang="es-ES" dirty="0"/>
              <a:t> (1702-1761)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49E2E4-66D0-4033-B784-92F51196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Probabilidad  condicional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DD267EA-F1D2-4EDE-BE9D-F9A2F9E317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/>
                  <a:t>Para dos sucesos A y B donde P(B) &gt; 0, se define la probabilidad condicionada de A dado B como:</a:t>
                </a:r>
              </a:p>
              <a:p>
                <a:endParaRPr lang="es-E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GT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G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GT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s-GT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s-G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GT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s-G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GT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G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s-G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s-G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GT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s-G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GT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s-GT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ES" dirty="0"/>
              </a:p>
              <a:p>
                <a:endParaRPr lang="es-GT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DD267EA-F1D2-4EDE-BE9D-F9A2F9E317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62" t="-2570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4BE736-E7A9-4C50-A002-2F103409B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(la probabilidad de A suponiendo que B haya ocurrido)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414079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DB86AB-0312-4F96-A33B-0E9B9E56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Probabilidad Condicional. Ejemplo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5EFD90-A298-45E1-80C7-E2132BA0D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selecciona un empresario al azar y se pregunta sobre la probabilidad de que tenga por lo menos dos empresas, suponiendo que fuese quiosquero.</a:t>
            </a:r>
            <a:endParaRPr lang="es-G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B5ABC8-967D-4068-B764-EAF6042F6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59" y="3284984"/>
            <a:ext cx="8298830" cy="268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6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2DB4D-B8A4-430D-8B4E-1CBD6219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437" y="177800"/>
            <a:ext cx="4500975" cy="1239837"/>
          </a:xfrm>
        </p:spPr>
        <p:txBody>
          <a:bodyPr>
            <a:normAutofit fontScale="90000"/>
          </a:bodyPr>
          <a:lstStyle/>
          <a:p>
            <a:r>
              <a:rPr lang="es-GT" dirty="0"/>
              <a:t>Probabilidad condicional. </a:t>
            </a:r>
            <a:br>
              <a:rPr lang="es-GT" dirty="0"/>
            </a:br>
            <a:r>
              <a:rPr lang="es-GT" dirty="0"/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449983-A830-40DD-8A71-6A16ACA0EA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endParaRPr lang="es-GT" dirty="0"/>
              </a:p>
              <a:p>
                <a:endParaRPr lang="es-GT" dirty="0"/>
              </a:p>
              <a:p>
                <a:endParaRPr lang="es-GT" dirty="0"/>
              </a:p>
              <a:p>
                <a:endParaRPr lang="es-GT" dirty="0"/>
              </a:p>
              <a:p>
                <a:r>
                  <a:rPr lang="es-GT" dirty="0"/>
                  <a:t>La probabilidad de que tenga al menos 2 empresas (A) y que fuese quiosquero (B)</a:t>
                </a:r>
              </a:p>
              <a:p>
                <a:pPr lvl="1"/>
                <a:r>
                  <a:rPr lang="es-GT" dirty="0"/>
                  <a:t>P(A</a:t>
                </a:r>
                <a:r>
                  <a:rPr lang="es-GT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⋂ </a:t>
                </a:r>
                <a:r>
                  <a:rPr lang="es-GT" dirty="0"/>
                  <a:t>B) = 28/100</a:t>
                </a:r>
              </a:p>
              <a:p>
                <a:r>
                  <a:rPr lang="es-GT" dirty="0"/>
                  <a:t>La probabilidad de que fuese quiosquero P(B)</a:t>
                </a:r>
              </a:p>
              <a:p>
                <a:pPr lvl="1"/>
                <a:r>
                  <a:rPr lang="es-GT" dirty="0"/>
                  <a:t>P(B) = 53/100</a:t>
                </a:r>
              </a:p>
              <a:p>
                <a:r>
                  <a:rPr lang="es-GT" dirty="0"/>
                  <a:t>Probabilidad condicional (probabilidad de que tenga más de 2 empresas dado que es quiosquero)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GT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G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G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s-G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GT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GT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GT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GT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G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G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s-G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GT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GT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GT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s-GT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s-GT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G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G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GT" i="1"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 lang="es-GT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s-G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GT" i="1">
                                <a:latin typeface="Cambria Math" panose="02040503050406030204" pitchFamily="18" charset="0"/>
                              </a:rPr>
                              <m:t>53</m:t>
                            </m:r>
                          </m:num>
                          <m:den>
                            <m:r>
                              <a:rPr lang="es-GT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den>
                    </m:f>
                    <m:r>
                      <a:rPr lang="es-GT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G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53</m:t>
                        </m:r>
                      </m:den>
                    </m:f>
                    <m:r>
                      <a:rPr lang="es-GT" b="0" i="1" smtClean="0">
                        <a:latin typeface="Cambria Math" panose="02040503050406030204" pitchFamily="18" charset="0"/>
                      </a:rPr>
                      <m:t>=0.52</m:t>
                    </m:r>
                  </m:oMath>
                </a14:m>
                <a:endParaRPr lang="es-ES" dirty="0"/>
              </a:p>
              <a:p>
                <a:pPr lvl="1"/>
                <a:endParaRPr lang="es-GT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449983-A830-40DD-8A71-6A16ACA0EA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5" r="-1308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DB42FA6-C778-40BC-BDB2-1BBCFE726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382" y="204571"/>
            <a:ext cx="6525679" cy="21115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3EF57C-9CC0-4426-830D-67050B63E5A6}"/>
              </a:ext>
            </a:extLst>
          </p:cNvPr>
          <p:cNvSpPr/>
          <p:nvPr/>
        </p:nvSpPr>
        <p:spPr>
          <a:xfrm>
            <a:off x="7470217" y="204571"/>
            <a:ext cx="3888432" cy="1235100"/>
          </a:xfrm>
          <a:prstGeom prst="rect">
            <a:avLst/>
          </a:prstGeom>
          <a:solidFill>
            <a:srgbClr val="E8A565">
              <a:alpha val="50980"/>
            </a:srgb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399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F6D7-16CF-4CA1-95FD-421ECADA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Ley de multiplicación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536C15-0396-4CB5-AB9E-33E0678B69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93436" y="1600200"/>
                <a:ext cx="10333624" cy="4572000"/>
              </a:xfrm>
            </p:spPr>
            <p:txBody>
              <a:bodyPr/>
              <a:lstStyle/>
              <a:p>
                <a:r>
                  <a:rPr lang="es-GT" dirty="0"/>
                  <a:t>P(A ∩ B) = P(A|B)P(B)</a:t>
                </a:r>
              </a:p>
              <a:p>
                <a:endParaRPr lang="es-GT" dirty="0"/>
              </a:p>
              <a:p>
                <a:r>
                  <a:rPr lang="es-GT" dirty="0"/>
                  <a:t>Extendiendo la ley de multiplicación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GT" sz="2000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s-G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⋂"/>
                              <m:ctrlPr>
                                <a:rPr lang="es-GT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GT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GT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GT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GT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GT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GT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s-G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GT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G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G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GT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GT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s-G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GT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GT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GT" sz="20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G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GT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GT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GT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s-GT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GT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GT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G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GT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GT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GT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s-G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GT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GT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GT" sz="20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G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GT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GT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GT" sz="20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e>
                      </m:d>
                      <m:r>
                        <a:rPr lang="es-GT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G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…×</m:t>
                      </m:r>
                      <m:r>
                        <a:rPr lang="es-GT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GT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G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GT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GT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GT" sz="2000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s-G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GT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GT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GT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GT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G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s-G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G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G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G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G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GT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536C15-0396-4CB5-AB9E-33E0678B69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3436" y="1600200"/>
                <a:ext cx="10333624" cy="4572000"/>
              </a:xfrm>
              <a:blipFill>
                <a:blip r:embed="rId2"/>
                <a:stretch>
                  <a:fillRect l="-1356" t="-3333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63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26791-B634-41DF-8507-493154CFF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Independencia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BE8C5-CB71-4E4F-AAC7-3BD334031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Dos sucesos A y B son independientes si:</a:t>
            </a:r>
          </a:p>
          <a:p>
            <a:pPr marL="0" indent="0">
              <a:buNone/>
            </a:pPr>
            <a:r>
              <a:rPr lang="es-ES" dirty="0"/>
              <a:t> P(A ∩ B) = P(A)P(B).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Si P(A) &gt; 0, esta definición implica que P(B|A) = P(B) </a:t>
            </a:r>
          </a:p>
          <a:p>
            <a:pPr lvl="1"/>
            <a:r>
              <a:rPr lang="es-ES" dirty="0"/>
              <a:t>la información de que A ha ocurrido no cambia la probabilidad de B. </a:t>
            </a:r>
          </a:p>
          <a:p>
            <a:r>
              <a:rPr lang="es-ES" dirty="0"/>
              <a:t>Si P(B) &gt; 0, independencia implica que P(A) = P(A|B) y la información que B ha ocurrido no afecta la probabilidad de A.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43187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35D96-8099-437C-8EDE-524802C9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Eventos independientes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578E0B-3710-4408-8B48-B2BA36C607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/>
                  <a:t>Si A y B son independientes, entonces: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GT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G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G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lang="es-G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G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s-G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GT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G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GT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G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G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endParaRPr lang="es-GT" b="0" dirty="0"/>
              </a:p>
              <a:p>
                <a:pPr lvl="1"/>
                <a14:m>
                  <m:oMath xmlns:m="http://schemas.openxmlformats.org/officeDocument/2006/math">
                    <m:r>
                      <a:rPr lang="es-GT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G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GT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s-G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G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G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GT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G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GT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s-GT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G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GT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G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GT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G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GT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s-G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lang="es-G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G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s-G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GT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G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GT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s-GT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GT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s-GT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s-G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GT" dirty="0"/>
              </a:p>
              <a:p>
                <a:endParaRPr lang="es-GT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578E0B-3710-4408-8B48-B2BA36C607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3" t="-3200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881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6E881-91F6-4D06-9E52-0934FF0FC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Independencia. Ejemplo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739FD-62C6-4673-BA82-56FB42B05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Supongamos que tiramos dos monedas equilibradas una tras otra. Intuitivamente, el resultado de la primera tirada no influye en el resultado de la segunda tirada. Entonces, siendo A el suceso de que la primera tirada salga cruz, y B el suceso de que la segunda tirada sea cruz, entonces, </a:t>
            </a:r>
          </a:p>
          <a:p>
            <a:r>
              <a:rPr lang="es-ES" dirty="0"/>
              <a:t>1/2 = P(B|A) = P(B) ⇒ P(A ∩ B)/P(A) = P(B) ⇒ </a:t>
            </a:r>
          </a:p>
          <a:p>
            <a:r>
              <a:rPr lang="es-ES" dirty="0"/>
              <a:t>P(A ∩ B) = P(A)P(B) = 1/4 .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20164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5F90A-C87D-485C-99D8-0BD8725E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Teorema de Bayes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23D572-55E4-4897-9BD8-63876FBCA0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Para dos sucesos, A y B donde P(B) &gt; 0, se tiene: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GT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G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GT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G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s-G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e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s-GT" b="0" dirty="0"/>
              </a:p>
              <a:p>
                <a:endParaRPr lang="es-GT" b="0" dirty="0"/>
              </a:p>
              <a:p>
                <a:r>
                  <a:rPr lang="es-GT" b="0" dirty="0"/>
                  <a:t>Generalizando: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GT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G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G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s-GT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GT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G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GT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s-G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e>
                            <m:sSub>
                              <m:sSubPr>
                                <m:ctrlPr>
                                  <a:rPr lang="es-GT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GT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GT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s-GT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GT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G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GT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s-GT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s-G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GT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GT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s-GT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GT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G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GT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s-GT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s-GT" b="0" dirty="0"/>
              </a:p>
              <a:p>
                <a:pPr lvl="2"/>
                <a:endParaRPr lang="es-ES" dirty="0"/>
              </a:p>
              <a:p>
                <a:pPr lvl="2"/>
                <a:r>
                  <a:rPr lang="es-ES" dirty="0"/>
                  <a:t>P(</a:t>
                </a:r>
                <a:r>
                  <a:rPr lang="es-ES" dirty="0" err="1"/>
                  <a:t>A</a:t>
                </a:r>
                <a:r>
                  <a:rPr lang="es-ES" baseline="-25000" dirty="0" err="1"/>
                  <a:t>i</a:t>
                </a:r>
                <a:r>
                  <a:rPr lang="es-ES" dirty="0"/>
                  <a:t>) son las probabilidades a priori,</a:t>
                </a:r>
              </a:p>
              <a:p>
                <a:pPr lvl="2"/>
                <a:r>
                  <a:rPr lang="es-ES" dirty="0"/>
                  <a:t>P(</a:t>
                </a:r>
                <a:r>
                  <a:rPr lang="es-ES" dirty="0" err="1"/>
                  <a:t>B|A</a:t>
                </a:r>
                <a:r>
                  <a:rPr lang="es-ES" baseline="-25000" dirty="0" err="1"/>
                  <a:t>i</a:t>
                </a:r>
                <a:r>
                  <a:rPr lang="es-ES" dirty="0"/>
                  <a:t>) es la probabilidad de B en la hipótesis A</a:t>
                </a:r>
              </a:p>
              <a:p>
                <a:pPr lvl="2"/>
                <a:r>
                  <a:rPr lang="es-ES" dirty="0"/>
                  <a:t>P(</a:t>
                </a:r>
                <a:r>
                  <a:rPr lang="es-ES" dirty="0" err="1"/>
                  <a:t>A</a:t>
                </a:r>
                <a:r>
                  <a:rPr lang="es-ES" baseline="-25000" dirty="0" err="1"/>
                  <a:t>i</a:t>
                </a:r>
                <a:r>
                  <a:rPr lang="es-ES" dirty="0" err="1"/>
                  <a:t>|B</a:t>
                </a:r>
                <a:r>
                  <a:rPr lang="es-ES" dirty="0"/>
                  <a:t>) son las probabilidades a posteriori</a:t>
                </a:r>
                <a:endParaRPr lang="es-GT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23D572-55E4-4897-9BD8-63876FBCA0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3" t="-3200"/>
                </a:stretch>
              </a:blipFill>
            </p:spPr>
            <p:txBody>
              <a:bodyPr/>
              <a:lstStyle/>
              <a:p>
                <a:r>
                  <a:rPr lang="es-G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24421952-0C14-49AD-A412-844D7365E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16425"/>
            <a:ext cx="341359" cy="63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0" tIns="4761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GT" altLang="es-G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GT" altLang="es-GT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5" name="AutoShape 2" descr="P(A_i)">
            <a:extLst>
              <a:ext uri="{FF2B5EF4-FFF2-40B4-BE49-F238E27FC236}">
                <a16:creationId xmlns:a16="http://schemas.microsoft.com/office/drawing/2014/main" id="{0027A27C-9D8E-477A-929D-F25964B860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375" y="-371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GT"/>
          </a:p>
        </p:txBody>
      </p:sp>
      <p:sp>
        <p:nvSpPr>
          <p:cNvPr id="6" name="AutoShape 3" descr="P(B|A_i)">
            <a:extLst>
              <a:ext uri="{FF2B5EF4-FFF2-40B4-BE49-F238E27FC236}">
                <a16:creationId xmlns:a16="http://schemas.microsoft.com/office/drawing/2014/main" id="{A7F72205-D0B1-4A3D-8563-1B01ADB6BD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375" y="-825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GT"/>
          </a:p>
        </p:txBody>
      </p:sp>
      <p:sp>
        <p:nvSpPr>
          <p:cNvPr id="7" name="AutoShape 4" descr="B">
            <a:extLst>
              <a:ext uri="{FF2B5EF4-FFF2-40B4-BE49-F238E27FC236}">
                <a16:creationId xmlns:a16="http://schemas.microsoft.com/office/drawing/2014/main" id="{8441B028-22E6-4814-B2AA-11A761B416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90650" y="-825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GT"/>
          </a:p>
        </p:txBody>
      </p:sp>
      <p:sp>
        <p:nvSpPr>
          <p:cNvPr id="8" name="AutoShape 5" descr="A_i">
            <a:extLst>
              <a:ext uri="{FF2B5EF4-FFF2-40B4-BE49-F238E27FC236}">
                <a16:creationId xmlns:a16="http://schemas.microsoft.com/office/drawing/2014/main" id="{E03C8E2E-6691-480E-B2BE-823CA37508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43150" y="-825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GT"/>
          </a:p>
        </p:txBody>
      </p:sp>
      <p:sp>
        <p:nvSpPr>
          <p:cNvPr id="9" name="AutoShape 6" descr="P(A_i|B)">
            <a:extLst>
              <a:ext uri="{FF2B5EF4-FFF2-40B4-BE49-F238E27FC236}">
                <a16:creationId xmlns:a16="http://schemas.microsoft.com/office/drawing/2014/main" id="{B4E3114F-6C04-40B6-901F-D1E0C023AC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375" y="2063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4490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F6B-DDB1-4E7D-BB64-2C1823CE9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</a:t>
            </a:r>
            <a:endParaRPr lang="es-GT" dirty="0"/>
          </a:p>
        </p:txBody>
      </p:sp>
      <p:pic>
        <p:nvPicPr>
          <p:cNvPr id="4" name="Online Media 3">
            <a:hlinkClick r:id="" action="ppaction://media"/>
            <a:extLst>
              <a:ext uri="{FF2B5EF4-FFF2-40B4-BE49-F238E27FC236}">
                <a16:creationId xmlns:a16="http://schemas.microsoft.com/office/drawing/2014/main" id="{C0E3FBDE-735A-4510-BE3C-A617737BD47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89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105B-A0BC-4A14-9CD8-84B5D7B77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Clasificador Bayesiano vs Bayes ingenuo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1F5B6-44B8-4DD4-AF2D-60E353534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>
                <a:hlinkClick r:id="rId2"/>
              </a:rPr>
              <a:t>http://academic.uprm.edu/eacuna/naivebayesacu.pdf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68360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C9D12-17D7-4728-8B8B-5F1585E88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En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57298-0008-4783-8432-849885BCC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Paquete e1071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481328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2875</TotalTime>
  <Words>517</Words>
  <Application>Microsoft Office PowerPoint</Application>
  <PresentationFormat>Custom</PresentationFormat>
  <Paragraphs>60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 Math</vt:lpstr>
      <vt:lpstr>Euphemia</vt:lpstr>
      <vt:lpstr>Georgia</vt:lpstr>
      <vt:lpstr>Math 16x9</vt:lpstr>
      <vt:lpstr>Naive Bayes</vt:lpstr>
      <vt:lpstr>Introducción</vt:lpstr>
      <vt:lpstr>Probabilidad  condicional</vt:lpstr>
      <vt:lpstr>Probabilidad Condicional. Ejemplo</vt:lpstr>
      <vt:lpstr>Probabilidad condicional.  Ejemplo</vt:lpstr>
      <vt:lpstr>Ley de multiplicación</vt:lpstr>
      <vt:lpstr>Independencia</vt:lpstr>
      <vt:lpstr>Eventos independientes</vt:lpstr>
      <vt:lpstr>Independencia. Ejemplo</vt:lpstr>
      <vt:lpstr>Teorema de Bayes</vt:lpstr>
      <vt:lpstr>a</vt:lpstr>
      <vt:lpstr>Clasificador Bayesiano vs Bayes ingenuo</vt:lpstr>
      <vt:lpstr>En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Naive Bayes</dc:title>
  <dc:creator>flaquitqm</dc:creator>
  <cp:lastModifiedBy>LYNETTE, GARCIA PEREZ</cp:lastModifiedBy>
  <cp:revision>16</cp:revision>
  <dcterms:created xsi:type="dcterms:W3CDTF">2018-04-03T17:50:37Z</dcterms:created>
  <dcterms:modified xsi:type="dcterms:W3CDTF">2019-03-13T20:30:06Z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